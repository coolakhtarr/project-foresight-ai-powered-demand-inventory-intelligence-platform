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WAPE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B728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FA66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Seasonal-naive baseline</c:v>
                  </c:pt>
                  <c:pt idx="1">
                    <c:v>FORESIGHT model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0.8747</c:v>
                </c:pt>
                <c:pt idx="1">
                  <c:v>0.6153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3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34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340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E2340"/>
                </a:solidFill>
                <a:latin typeface="Arial"/>
              </a:rPr>
              <a:t>SKUs by risk quadrant (of 200)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SKUs</c:v>
                </c:pt>
              </c:strCache>
            </c:strRef>
          </c:tx>
          <c:spPr>
            <a:solidFill>
              <a:srgbClr val="3FA6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FA6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564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E7CC3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Healthy</c:v>
                  </c:pt>
                  <c:pt idx="1">
                    <c:v>Reorder Now</c:v>
                  </c:pt>
                  <c:pt idx="2">
                    <c:v>Markdown / Clear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105</c:v>
                </c:pt>
                <c:pt idx="1">
                  <c:v>83</c:v>
                </c:pt>
                <c:pt idx="2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3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34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FORESIGHT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8803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A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&amp; Inventory Intelligence — Executive Readout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34290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F3EC"/>
                </a:solidFill>
              </a:rPr>
              <a:t>Prepared for the Head of Operations &amp; Finance · NorthBay Living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3977640"/>
            <a:ext cx="2926080" cy="0"/>
          </a:xfrm>
          <a:prstGeom prst="line">
            <a:avLst/>
          </a:prstGeom>
          <a:noFill/>
          <a:ln w="25400">
            <a:solidFill>
              <a:srgbClr val="C9A66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340"/>
                </a:solidFill>
              </a:rPr>
              <a:t>The bottom line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38328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8288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564F"/>
                </a:solidFill>
              </a:rPr>
              <a:t>£204,185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340"/>
                </a:solidFill>
              </a:rPr>
              <a:t>Revenue at risk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340"/>
                </a:solidFill>
              </a:rPr>
              <a:t>from stockouts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43400" y="1463040"/>
            <a:ext cx="338328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43400" y="18288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E7CC3"/>
                </a:solidFill>
              </a:rPr>
              <a:t>£43,403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343400" y="27432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340"/>
                </a:solidFill>
              </a:rPr>
              <a:t>Capital locked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340"/>
                </a:solidFill>
              </a:rPr>
              <a:t>in overstock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46720" y="1463040"/>
            <a:ext cx="338328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8288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FA66B"/>
                </a:solidFill>
              </a:rPr>
              <a:t>29.7%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8046720" y="27432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340"/>
                </a:solidFill>
              </a:rPr>
              <a:t>Forecast improvement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340"/>
                </a:solidFill>
              </a:rPr>
              <a:t>over naive planning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20624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340"/>
                </a:solidFill>
              </a:rPr>
              <a:t>FORESIGHT identifies exactly which SKUs need reordering now, which should be marked down, and quantifies the £ impact of each — replacing spreadsheet guesswork with a forecast that measurably beats naive planning.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340"/>
                </a:solidFill>
              </a:rPr>
              <a:t>The problem we were asked to solve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65836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E2340"/>
                </a:solidFill>
              </a:rPr>
              <a:t>Stock is planned on gut feel and spreadsheets — no forecasting in place today.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E2340"/>
                </a:solidFill>
              </a:rPr>
              <a:t>Best-sellers run out (lost sales, frustrated customers).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E2340"/>
                </a:solidFill>
              </a:rPr>
              <a:t>Slow movers pile up (cash locked in stock, later marked down at a loss).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E2340"/>
                </a:solidFill>
              </a:rPr>
              <a:t>Both problems happen at once, across ~200 active SKUs.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772400" y="1554480"/>
            <a:ext cx="3749040" cy="3840480"/>
          </a:xfrm>
          <a:prstGeom prst="roundRect">
            <a:avLst>
              <a:gd name="adj" fmla="val 2439"/>
            </a:avLst>
          </a:prstGeom>
          <a:solidFill>
            <a:srgbClr val="1E2340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1920240"/>
            <a:ext cx="3200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6F3EC"/>
                </a:solidFill>
              </a:rPr>
              <a:t>“I need something my team can actually look at — not a notebook only a data scientist can read.”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046720" y="4480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66B"/>
                </a:solidFill>
              </a:rPr>
              <a:t>— Head of Operations, NorthBay Living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340"/>
                </a:solidFill>
              </a:rPr>
              <a:t>What FORESIGHT delivers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737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66B"/>
                </a:solidFill>
              </a:rPr>
              <a:t>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554480" y="17373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340"/>
                </a:solidFill>
              </a:rPr>
              <a:t>Weekly forecast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0" y="224028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8-week SKU-level demand forecast, backtested against a naive baseline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26480" y="155448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737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66B"/>
                </a:solidFill>
              </a:rPr>
              <a:t>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040880" y="17373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340"/>
                </a:solidFill>
              </a:rPr>
              <a:t>Risk scoring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040880" y="224028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Every SKU flagged: reorder now, markdown, watch, or healthy — with £ impact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56616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749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66B"/>
                </a:solidFill>
              </a:rPr>
              <a:t>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554480" y="37490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340"/>
                </a:solidFill>
              </a:rPr>
              <a:t>Planning dashboard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425196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Filterable, self-serve view for the ops team — no data scientist required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356616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3749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66B"/>
                </a:solidFill>
              </a:rPr>
              <a:t>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040880" y="37490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340"/>
                </a:solidFill>
              </a:rPr>
              <a:t>Live scoring service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40880" y="425196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A hosted API returning forecast + risk for any SKU, on demand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340"/>
                </a:solidFill>
              </a:rPr>
              <a:t>Forecast accuracy — tested honestly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WAPE (lower is better) — model vs seasonal-naive baseline, averaged across 6 rolling-origin backtest folds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1371600" y="1645920"/>
          <a:ext cx="64008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38160" y="2011680"/>
            <a:ext cx="3383280" cy="3108960"/>
          </a:xfrm>
          <a:prstGeom prst="roundRect">
            <a:avLst>
              <a:gd name="adj" fmla="val 2941"/>
            </a:avLst>
          </a:prstGeom>
          <a:solidFill>
            <a:srgbClr val="F6F3EC"/>
          </a:solidFill>
          <a:ln/>
        </p:spPr>
      </p:sp>
      <p:sp>
        <p:nvSpPr>
          <p:cNvPr id="6" name="Text 3"/>
          <p:cNvSpPr/>
          <p:nvPr/>
        </p:nvSpPr>
        <p:spPr>
          <a:xfrm>
            <a:off x="8138160" y="228600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FA66B"/>
                </a:solidFill>
              </a:rPr>
              <a:t>29.7%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138160" y="30175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340"/>
                </a:solidFill>
              </a:rPr>
              <a:t>lower error than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340"/>
                </a:solidFill>
              </a:rPr>
              <a:t>naive planning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321040" y="384048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Non-negotiable rule followed: rolling-origin backtesting, no future data in any feature, result reported honestly whether it won or lost.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340"/>
                </a:solidFill>
              </a:rPr>
              <a:t>Where the risk sits today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371600"/>
          <a:ext cx="57607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675120" y="13716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340"/>
                </a:solidFill>
              </a:rPr>
              <a:t>Top 5 priority SKUs (by £ value at stake)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828800"/>
          <a:ext cx="4846320" cy="2743200"/>
        </p:xfrm>
        <a:graphic>
          <a:graphicData uri="http://schemas.openxmlformats.org/drawingml/2006/table">
            <a:tbl>
              <a:tblPr/>
              <a:tblGrid>
                <a:gridCol w="1211580"/>
                <a:gridCol w="1211580"/>
                <a:gridCol w="1211580"/>
                <a:gridCol w="12115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340"/>
                          </a:solidFill>
                        </a:rPr>
                        <a:t>SKU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340"/>
                          </a:solidFill>
                        </a:rPr>
                        <a:t>Product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340"/>
                          </a:solidFill>
                        </a:rPr>
                        <a:t>Status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340"/>
                          </a:solidFill>
                        </a:rPr>
                        <a:t>£ at stake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340"/>
                          </a:solidFill>
                        </a:rPr>
                        <a:t>37503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340"/>
                          </a:solidFill>
                        </a:rPr>
                        <a:t>Tea Time Cake Stand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340"/>
                          </a:solidFill>
                        </a:rPr>
                        <a:t>Reorder Now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340"/>
                          </a:solidFill>
                        </a:rPr>
                        <a:t>23,596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340"/>
                          </a:solidFill>
                        </a:rPr>
                        <a:t>84078A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340"/>
                          </a:solidFill>
                        </a:rPr>
                        <a:t>Retro Storage Cubes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340"/>
                          </a:solidFill>
                        </a:rPr>
                        <a:t>Reorder Now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340"/>
                          </a:solidFill>
                        </a:rPr>
                        <a:t>20,293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340"/>
                          </a:solidFill>
                        </a:rPr>
                        <a:t>22423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340"/>
                          </a:solidFill>
                        </a:rPr>
                        <a:t>Regency Cakestand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340"/>
                          </a:solidFill>
                        </a:rPr>
                        <a:t>Reorder Now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340"/>
                          </a:solidFill>
                        </a:rPr>
                        <a:t>8,359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340"/>
                          </a:solidFill>
                        </a:rPr>
                        <a:t>15056BL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340"/>
                          </a:solidFill>
                        </a:rPr>
                        <a:t>Edwardian Parasol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340"/>
                          </a:solidFill>
                        </a:rPr>
                        <a:t>Markdown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340"/>
                          </a:solidFill>
                        </a:rPr>
                        <a:t>7,993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340"/>
                          </a:solidFill>
                        </a:rPr>
                        <a:t>23084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340"/>
                          </a:solidFill>
                        </a:rPr>
                        <a:t>Rabbit Night Light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340"/>
                          </a:solidFill>
                        </a:rPr>
                        <a:t>Reorder Now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340"/>
                          </a:solidFill>
                        </a:rPr>
                        <a:t>7,499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340"/>
                </a:solidFill>
              </a:rPr>
              <a:t>How the team uses this, starting Monday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457200" cy="457200"/>
          </a:xfrm>
          <a:prstGeom prst="oval">
            <a:avLst/>
          </a:prstGeom>
          <a:solidFill>
            <a:srgbClr val="C9A66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63040" y="15087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340"/>
                </a:solidFill>
              </a:rPr>
              <a:t>Open the dashboard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63040" y="192024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See the prioritised reorder / markdown list, sorted by £ impact.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606040"/>
            <a:ext cx="457200" cy="457200"/>
          </a:xfrm>
          <a:prstGeom prst="oval">
            <a:avLst/>
          </a:prstGeom>
          <a:solidFill>
            <a:srgbClr val="C9A66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25603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340"/>
                </a:solidFill>
              </a:rPr>
              <a:t>Filter by category or SKU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63040" y="297180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Drill into any product line the merchandiser cares about.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3657600"/>
            <a:ext cx="457200" cy="457200"/>
          </a:xfrm>
          <a:prstGeom prst="oval">
            <a:avLst/>
          </a:prstGeom>
          <a:solidFill>
            <a:srgbClr val="C9A66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36118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340"/>
                </a:solidFill>
              </a:rPr>
              <a:t>Check the decisioning grid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63040" y="402336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Triage the whole 200-SKU catalog in one glance.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4709160"/>
            <a:ext cx="457200" cy="457200"/>
          </a:xfrm>
          <a:prstGeom prst="oval">
            <a:avLst/>
          </a:prstGeom>
          <a:solidFill>
            <a:srgbClr val="C9A66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709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46634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340"/>
                </a:solidFill>
              </a:rPr>
              <a:t>Query the API for any SKU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507492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Get forecast + risk on demand — for future system integration.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Honest limitations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1033272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F6F3EC"/>
                </a:solidFill>
              </a:rPr>
              <a:t>Built on a real 2-year e-commerce transaction history; inventory positions (stock on-hand, lead time, reorder point) are simulated using standard reorder-point logic, since no inventory feed was available in the source data.</a:t>
            </a:r>
            <a:endParaRPr lang="en-US" sz="1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F6F3EC"/>
                </a:solidFill>
              </a:rPr>
              <a:t>The model beats the seasonal-naive baseline by 29.7% WAPE on backtest — a real, honestly-tested improvement, not a guarantee for every SKU every week.</a:t>
            </a:r>
            <a:endParaRPr lang="en-US" sz="1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F6F3EC"/>
                </a:solidFill>
              </a:rPr>
              <a:t>Promotions are inferred from price drops, not from a true promo calendar — treat promo-week forecasts with some caution.</a:t>
            </a:r>
            <a:endParaRPr lang="en-US" sz="1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F6F3EC"/>
                </a:solidFill>
              </a:rPr>
              <a:t>Recommended next step: connect NorthBay's real inventory feed to replace the simulated layer before this drives live purchase orders.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340"/>
                </a:solidFill>
              </a:rPr>
              <a:t>Recommended next steps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E2340"/>
                </a:solidFill>
              </a:rPr>
              <a:t>Act on the 83 “Reorder Now” SKUs this week — £204K in sales is at risk if they stock out.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E2340"/>
                </a:solidFill>
              </a:rPr>
              <a:t>Run a markdown/clearance pass on the 12 overstocked SKUs to free £43K in working capital.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E2340"/>
                </a:solidFill>
              </a:rPr>
              <a:t>Connect NorthBay's real inventory feed to replace the simulated layer.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E2340"/>
                </a:solidFill>
              </a:rPr>
              <a:t>Re-run the pipeline monthly as new sales data arrives — it is fully reproducible end-to-end.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5669280"/>
            <a:ext cx="10881360" cy="0"/>
          </a:xfrm>
          <a:prstGeom prst="line">
            <a:avLst/>
          </a:prstGeom>
          <a:noFill/>
          <a:ln w="12700">
            <a:solidFill>
              <a:srgbClr val="D9D2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Project FORESIGHT · Zidio Development Data Science &amp; Analytics Engagement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2026-07-22T22:32:21Z</dcterms:created>
  <dcterms:modified xsi:type="dcterms:W3CDTF">2026-07-22T22:32:21Z</dcterms:modified>
</cp:coreProperties>
</file>